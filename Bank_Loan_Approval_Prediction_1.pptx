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61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03120"/>
            <a:ext cx="6583680" cy="6583680"/>
          </a:xfrm>
          <a:prstGeom prst="ellipse">
            <a:avLst/>
          </a:prstGeom>
          <a:ln w="19050">
            <a:solidFill>
              <a:srgbClr val="1B4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B4A38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74920"/>
            <a:ext cx="1554480" cy="15544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SCIENCE   ·   MACHINE LEARNING   ·   BANKING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 Loan</a:t>
            </a:r>
            <a:endParaRPr lang="en-US" sz="5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Prediction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end-to-end machine learning pipeline that classifies loan applications as Approved or Rejected from applicant financial and personal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45720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Notebook Walkthrough   |   Data Science &amp; Machine Learning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Predict Loan Approval?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2148840"/>
          </a:xfrm>
          <a:prstGeom prst="rect">
            <a:avLst/>
          </a:prstGeom>
          <a:solidFill>
            <a:srgbClr val="F4F8F5"/>
          </a:solidFill>
          <a:ln w="12700">
            <a:solidFill>
              <a:srgbClr val="D8E9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Banks receive numerous loan applications every day. Evaluating each one manually is slow and prone to human error — creating delays and inconsistent decisions for applicants and institutions alike.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577840" cy="214884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423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and compare machine-learning classifiers that predict whether a loan application should be approved — covering the full pipeline from raw Excel data to an evaluated, compared set of models.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NOTEBOOK WORKFLOW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4839229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the 1,000-row applicant 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4825979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Inspect structure &amp; check data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5461021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missing values, duplicates &amp; outliers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5461021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Encode categories &amp; scale numeric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52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606741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Explore the data visually (EDA)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5952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606741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 &amp; compare four ML classifiers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 Applicants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1,000 records  ·  13 columns  ·  loaded with pandas.read_excel()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Unique loan identifier (dropped before modeling)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/ Female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Married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78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 / No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047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Number of dependents ("3+" → 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10312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148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4414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Graduate / Not Graduate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297180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Self_Employed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 /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ApplicantIncome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43400" y="4178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Applicant's income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470916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4754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CoapplicantIncome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43400" y="5047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Co-applicant's income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210312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2148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LoanAmount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24414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amount requested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297180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Loan_Amount_Term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duration (days)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46720" y="384048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Credit_History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0" y="4178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 = good, 0 = bad credit history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46720" y="4709160"/>
            <a:ext cx="3337560" cy="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4754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Property_Area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46720" y="5047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Urban / Semiurban / Rural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623560"/>
            <a:ext cx="10927080" cy="77724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5989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Loan_Status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365760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C87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  </a:t>
            </a:r>
            <a:r>
              <a:rPr lang="en-US" sz="13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Approved      </a:t>
            </a:r>
            <a:r>
              <a:rPr lang="en-US" sz="1350" b="1" dirty="0">
                <a:solidFill>
                  <a:srgbClr val="F2C87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  </a:t>
            </a:r>
            <a:r>
              <a:rPr lang="en-US" sz="13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Rejected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223760" y="5943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8FAF9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Predicted from 11 encoded applicant features (Loan_ID excluded)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&amp; DATA LOADING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Libraries &amp; Reading 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LIBRARIES USED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987552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057400"/>
            <a:ext cx="1389888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0574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9856" y="2057400"/>
            <a:ext cx="1088136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20574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seaborn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057400"/>
            <a:ext cx="987552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574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plotly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2057400"/>
            <a:ext cx="1591056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05740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6309360" cy="141732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71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
</a:t>
            </a:r>
            <a:r>
              <a:rPr lang="en-US" sz="1200" dirty="0">
                <a:solidFill>
                  <a:srgbClr val="D9EBE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data = pd.read_excel(r"Loan_Applicants_1000.xlsx")
data.head()  </a:t>
            </a:r>
            <a:r>
              <a:rPr lang="en-US" sz="1200" dirty="0">
                <a:solidFill>
                  <a:srgbClr val="8FAF9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first 5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data.info() </a:t>
            </a:r>
            <a:r>
              <a:rPr lang="en-US" sz="12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confirms the structure before cleaning begins.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1691640"/>
            <a:ext cx="4279392" cy="2788920"/>
          </a:xfrm>
          <a:prstGeom prst="rect">
            <a:avLst/>
          </a:prstGeom>
          <a:solidFill>
            <a:srgbClr val="F4F8F5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RANGEINDEX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1000 entries (0 to 999)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43800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COLUMNS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28529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total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43800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COLUMNS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3511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4380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 COLUMNS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4169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(int64)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4380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Non-null count: 1000 / 1000 in every column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0292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0F3D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openpyxl</a:t>
            </a:r>
            <a:r>
              <a:rPr lang="en-US" sz="1250" i="1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acts as the translator between Python and modern Excel (.xlsx) files — pandas' built-in csv module can't read .xlsx directly.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Values, Duplicates &amp; Outliers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7432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data.isnull().sum() checks every column — result: 0 missing values across all 13 columns.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06040" cy="27432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 Strategy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Numeric columns filled with median; categorical columns filled with mode — applied defensively even though none were missing.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27432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data.duplicated().sum() found 0 duplicate rows; drop_duplicates() is run regardless to guarantee a clean 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606040" cy="27432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54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Outliers (IQR)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35440" y="30632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Q1/Q3 quartiles define bounds (Q1−1.5×IQR, Q3+1.5×IQR) on Income &amp; LoanAmount — 0 outliers found; values are clipped, not dropped.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Also in this step: </a:t>
            </a:r>
            <a:r>
              <a:rPr lang="en-US" sz="1250" b="1" dirty="0">
                <a:solidFill>
                  <a:srgbClr val="0F3D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Dependents' "3+" values are converted to the integer 3, and the Loan_ID column is dropped</a:t>
            </a:r>
            <a:r>
              <a:rPr lang="en-US" sz="12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it's a unique identifier with no predictive signal.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27080" cy="621792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86400"/>
            <a:ext cx="10378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data[col] = data[col].clip(lower, upper)  # cap instead of drop, preserving row count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TRANSFORMATION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Encoding &amp; Scaling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ENCODING CATEGORICAL VARIABLES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LabelEncoder() converts text categories into numeric codes so models can learn from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0784" y="2834640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0784" y="2834640"/>
            <a:ext cx="992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Married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7500" y="283464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500" y="283464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834640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83464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Self_Employed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Property_Area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2868" y="3291840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F4F8F5"/>
          </a:solidFill>
          <a:ln w="9525">
            <a:solidFill>
              <a:srgbClr val="D8E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2868" y="3291840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Loan_Status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e.g. Gender: Male → 1, Female → 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5212080" cy="105156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 = LabelEncoder()
</a:t>
            </a:r>
            <a:r>
              <a:rPr lang="en-US" sz="1100" dirty="0">
                <a:solidFill>
                  <a:srgbClr val="D9EBE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col in columns:
    data[col] = le.fit_transform(data[col])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0" cy="3611880"/>
          </a:xfrm>
          <a:prstGeom prst="line">
            <a:avLst/>
          </a:prstGeom>
          <a:noFill/>
          <a:ln w="12700">
            <a:solidFill>
              <a:srgbClr val="D8E9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SCALING NUMERICAL FEATURES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21488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StandardScaler standardizes ApplicantIncome, CoapplicantIncome, LoanAmount and Loan_Amount_Term to mean 0 and standard deviation 1 — keeping distance- and gradient-based models fast and unbiased by raw magnitude.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611880"/>
            <a:ext cx="5074920" cy="9144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730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scaler = StandardScaler()
</a:t>
            </a:r>
            <a:r>
              <a:rPr lang="en-US" sz="1050" dirty="0">
                <a:solidFill>
                  <a:srgbClr val="D9EBE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data[features] = scaler.fit_transform(data[features])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46634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 ApplicantIncome  13,164  →  −0.0026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Note: this notebook standardizes features directly for modeling — no separate dimensionality-reduction (PCA) step is used.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Structure Before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exposes structure and patterns before any model is built — avoiding wrong assumptions and model failure.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874520"/>
          </a:xfrm>
          <a:prstGeom prst="rect">
            <a:avLst/>
          </a:prstGeom>
          <a:solidFill>
            <a:srgbClr val="F4F8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12848"/>
            <a:ext cx="384048" cy="384048"/>
          </a:xfrm>
          <a:prstGeom prst="ellipse">
            <a:avLst/>
          </a:prstGeom>
          <a:solidFill>
            <a:srgbClr val="0F3D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Descriptive Statistics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data.describe() summarizes count, mean, std, min/max and quartiles for every numeric feature.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06040" cy="1874520"/>
          </a:xfrm>
          <a:prstGeom prst="rect">
            <a:avLst/>
          </a:prstGeom>
          <a:solidFill>
            <a:srgbClr val="F4F8F5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212848"/>
            <a:ext cx="384048" cy="384048"/>
          </a:xfrm>
          <a:prstGeom prst="ellipse">
            <a:avLst/>
          </a:prstGeom>
          <a:solidFill>
            <a:srgbClr val="0F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Grouped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groupby("Property_Area") + pivot_table("Credit_History") reveal approval-rate patterns.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606040" cy="1874520"/>
          </a:xfrm>
          <a:prstGeom prst="rect">
            <a:avLst/>
          </a:prstGeom>
          <a:solidFill>
            <a:srgbClr val="F4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212848"/>
            <a:ext cx="384048" cy="384048"/>
          </a:xfrm>
          <a:prstGeom prst="ellipse">
            <a:avLst/>
          </a:prstGeom>
          <a:solidFill>
            <a:srgbClr val="0F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sns.heatmap(data.corr()) shows how strongly every feature relates to the others and to Loan_Status.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2011680"/>
            <a:ext cx="2606040" cy="1874520"/>
          </a:xfrm>
          <a:prstGeom prst="rect">
            <a:avLst/>
          </a:prstGeom>
          <a:solidFill>
            <a:srgbClr val="F4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2212848"/>
            <a:ext cx="384048" cy="384048"/>
          </a:xfrm>
          <a:prstGeom prst="ellipse">
            <a:avLst/>
          </a:prstGeom>
          <a:solidFill>
            <a:srgbClr val="0F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 &amp; Class Balance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Boxplot, countplot and histogram examine income spread, class balance, and loan-size distribution.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FINDINGS FROM GROUPED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3520440" cy="160020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94.7% – 97.0%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68680" y="5212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Approval rate is consistent across all three Property_Area groups (Rural, Semiurban, Urban)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4572000"/>
            <a:ext cx="3520440" cy="160020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833 / 838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Approved applicants with good Credit_History (1) — approval is heavily concentrated here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4572000"/>
            <a:ext cx="3520440" cy="160020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8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126 / 162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275320" y="5212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Approved applicants with bad Credit_History (0) — credit history is the strongest visible signal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Charts Behind the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23444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1234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Heatmap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sns.heatmap(data.corr()) across all encoded numeric features vs. Loan_Status.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123444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82296" cy="1234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Income vs. Status Boxplot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23591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ApplicantIncome distribution compared for Rejected vs. Approved applicants.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57800" cy="123444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91840"/>
            <a:ext cx="82296" cy="1234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 Status Countplot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Counts of Approved vs. Rejected — checks whether target classes are balanced.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257800" cy="123444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291840"/>
            <a:ext cx="82296" cy="1234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 Amount Histogram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83680" y="382219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20-bin histogram of LoanAmount shows the spread of requested loan sizes.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056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Plotly Scatter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0120" y="54223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ApplicantIncome vs. LoanAmount, colored by Loan_Status, with Education &amp; Credit_History on hover.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numbers become visible patterns — charts let the eye spot trends and outliers far faster than rows of a spreadsheet.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Project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pd.read_excel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06040" y="26517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214884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0" name="Text 8"/>
          <p:cNvSpPr/>
          <p:nvPr/>
        </p:nvSpPr>
        <p:spPr>
          <a:xfrm>
            <a:off x="290779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7792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info() / head()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26517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10912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091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nulls, dupes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26517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214884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14032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 Outliers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IQR clip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15400" y="26517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214884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5" name="Text 23"/>
          <p:cNvSpPr/>
          <p:nvPr/>
        </p:nvSpPr>
        <p:spPr>
          <a:xfrm>
            <a:off x="9217152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17152" y="2770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1715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LabelEncoder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06908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4672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06040" y="45720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743200" y="406908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34" name="Text 32"/>
          <p:cNvSpPr/>
          <p:nvPr/>
        </p:nvSpPr>
        <p:spPr>
          <a:xfrm>
            <a:off x="2907792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907792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 (EDA)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07792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corr, plots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45720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46320" y="406908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10912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80/20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10912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train_test_split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12280" y="45720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949440" y="406908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114032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4 Models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14032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LR, DT, RF, KNN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915400" y="45720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052560" y="4069080"/>
            <a:ext cx="1965960" cy="16002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49" name="Text 47"/>
          <p:cNvSpPr/>
          <p:nvPr/>
        </p:nvSpPr>
        <p:spPr>
          <a:xfrm>
            <a:off x="9217152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217152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 &amp; Compare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217152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Acc/Prec/Rec/F1/ROC-AUC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NOTEBOOK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Flowchart — From Code to Prediction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F3D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8650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pd.read_excel()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219456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4308" y="141732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9" name="Text 7"/>
          <p:cNvSpPr/>
          <p:nvPr/>
        </p:nvSpPr>
        <p:spPr>
          <a:xfrm>
            <a:off x="2537460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 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2878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data.info()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55948" y="219456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141732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Missing &amp; Dupes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77106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isnull().sum()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0176" y="219456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12764" y="141732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185916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1334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fillna() · drop_duplicates()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04404" y="219456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36992" y="141732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1" name="Text 19"/>
          <p:cNvSpPr/>
          <p:nvPr/>
        </p:nvSpPr>
        <p:spPr>
          <a:xfrm>
            <a:off x="8010144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 Outliers (IQR)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25562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.clip(lower, upper)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28632" y="219456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61220" y="141732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5" name="Text 23"/>
          <p:cNvSpPr/>
          <p:nvPr/>
        </p:nvSpPr>
        <p:spPr>
          <a:xfrm>
            <a:off x="9834372" y="14630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Encode Categoricals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49790" y="2478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LabelEncoder()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52194" y="361188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8" name="Text 26"/>
          <p:cNvSpPr/>
          <p:nvPr/>
        </p:nvSpPr>
        <p:spPr>
          <a:xfrm>
            <a:off x="1625346" y="365760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Features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40764" y="46725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StandardScaler()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3834" y="438912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376422" y="361188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32" name="Text 30"/>
          <p:cNvSpPr/>
          <p:nvPr/>
        </p:nvSpPr>
        <p:spPr>
          <a:xfrm>
            <a:off x="3449574" y="365760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&amp; Visualize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46725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describe() · heatmap()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68062" y="438912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200650" y="3611880"/>
            <a:ext cx="1691640" cy="155448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36" name="Text 34"/>
          <p:cNvSpPr/>
          <p:nvPr/>
        </p:nvSpPr>
        <p:spPr>
          <a:xfrm>
            <a:off x="5273802" y="365760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Test Split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89220" y="46725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train_test_split(0.20)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92290" y="438912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24878" y="3611880"/>
            <a:ext cx="1691640" cy="1554480"/>
          </a:xfrm>
          <a:prstGeom prst="diamond">
            <a:avLst/>
          </a:prstGeom>
          <a:solidFill>
            <a:srgbClr val="1B4A38"/>
          </a:solidFill>
          <a:ln/>
        </p:spPr>
      </p:sp>
      <p:sp>
        <p:nvSpPr>
          <p:cNvPr id="40" name="Text 38"/>
          <p:cNvSpPr/>
          <p:nvPr/>
        </p:nvSpPr>
        <p:spPr>
          <a:xfrm>
            <a:off x="7098030" y="365760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4 Classifiers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5200" y="455184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LR · DT · RF · KNN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716518" y="4389120"/>
            <a:ext cx="13258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49106" y="361188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F3D2E"/>
          </a:solidFill>
          <a:ln/>
        </p:spPr>
      </p:sp>
      <p:sp>
        <p:nvSpPr>
          <p:cNvPr id="44" name="Text 42"/>
          <p:cNvSpPr/>
          <p:nvPr/>
        </p:nvSpPr>
        <p:spPr>
          <a:xfrm>
            <a:off x="8922258" y="365760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 &amp; Compare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37676" y="46725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C87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 · prec · rec · f1 · roc_auc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607040" y="2971800"/>
            <a:ext cx="0" cy="32004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98014" y="3291840"/>
            <a:ext cx="8209026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98014" y="3291840"/>
            <a:ext cx="0" cy="32004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Arrows follow the notebook's actual cell order, from raw data to the final comparison table.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MODELS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Classifiers, One 80/20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four models are trained on the same 11 features (Loan_ID and Loan_Status excluded) and the same train_test_split(test_size=0.20, random_state=42).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34290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260604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231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Baseline linear classifier estimating the probability of loan approval.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4800600"/>
            <a:ext cx="2203704" cy="6858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800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LogisticRegression(random_state=42)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194560"/>
            <a:ext cx="2606040" cy="34290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194560"/>
            <a:ext cx="260604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4231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0168" y="315468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Learns simple if-else rules arranged in a tree structure to reach a decision.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4800600"/>
            <a:ext cx="2203704" cy="6858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4800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DecisionTreeClassifier(random_state=42)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606040" cy="34290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60604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24231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315468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Ensemble of 100 decision trees combined for more accurate, stable predictions.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9088" y="4800600"/>
            <a:ext cx="2203704" cy="6858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800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RandomForestClassifier(n_estimators=100)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2194560"/>
            <a:ext cx="2606040" cy="3429000"/>
          </a:xfrm>
          <a:prstGeom prst="rect">
            <a:avLst/>
          </a:prstGeom>
          <a:ln w="15875">
            <a:solidFill>
              <a:srgbClr val="D8E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2194560"/>
            <a:ext cx="260604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Text 23"/>
          <p:cNvSpPr/>
          <p:nvPr/>
        </p:nvSpPr>
        <p:spPr>
          <a:xfrm>
            <a:off x="9208008" y="24231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K-Nearest Neighbors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08008" y="315468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Classifies an applicant by majority vote of its 5 nearest neighbors in feature space.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08008" y="4800600"/>
            <a:ext cx="2203704" cy="685800"/>
          </a:xfrm>
          <a:prstGeom prst="rect">
            <a:avLst/>
          </a:prstGeom>
          <a:solidFill>
            <a:srgbClr val="0C2E22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4800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E3A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KNeighborsClassifier(n_neighbors=5)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Comparing All Four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56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Accuracy, Precision, Recall, F1 Score and ROC-AUC are computed for every model on the held-out 20% test set.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27080" cy="173736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Accuracy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Recall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F1 Score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ROC-AUC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3D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Logistic Regression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0.990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0.9897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1.0000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0.9948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0.8750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3D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Random Forest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0.975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0.9746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1.0000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0.9871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0.6875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3D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Decision Tree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0.965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0.9843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0.9792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0.9817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0.8021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3D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K-Nearest Neighbors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0.965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0.9695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0.9948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0.9820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A44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0.6224</a:t>
                      </a:r>
                      <a:endParaRPr lang="en-US" sz="120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F3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459028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4480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Logistic Regression leads on accuracy (0.990) and F1 score (0.9948)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59028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7"/>
          <p:cNvSpPr/>
          <p:nvPr/>
        </p:nvSpPr>
        <p:spPr>
          <a:xfrm>
            <a:off x="6464808" y="4480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model reaches recall ≥ 0.979 — approvals are rarely missed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36752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52578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Tree has the strongest ROC-AUC (0.8021) among the tree/ensemble models</a:t>
            </a:r>
            <a:endParaRPr lang="en-US" sz="1200" dirty="0"/>
          </a:p>
        </p:txBody>
      </p:sp>
      <p:sp>
        <p:nvSpPr>
          <p:cNvPr id="5" name="Shape 10"/>
          <p:cNvSpPr/>
          <p:nvPr/>
        </p:nvSpPr>
        <p:spPr>
          <a:xfrm>
            <a:off x="6172200" y="536752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52578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A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Random Forest &amp; KNN show weaker ROC-AUC (0.688 / 0.622), suggesting less confident class separation despite high accuracy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 &amp; FUTURE 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Learned,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343400"/>
          </a:xfrm>
          <a:prstGeom prst="rect">
            <a:avLst/>
          </a:prstGeom>
          <a:ln w="19050">
            <a:solidFill>
              <a:srgbClr val="1B4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project developed and evaluated a full predictive pipeline for bank loan approval — from raw Excel data through cleaning, encoding, scaling, EDA, and four trained classifiers.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Logistic Regression delivers the best overall balance — 99.0% accuracy and a 0.9948 F1 score — while the ROC-AUC spread across models (0.62–0.88) shows accuracy alone doesn't tell the full story.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50749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Threshold-independent metrics like ROC-AUC remain essential for judging real class separation, not just headline accuracy.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03720" y="26517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 external data sources or engineer interaction features for more predictive leverage.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33192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 Tuning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03720" y="36850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Grid/random search across all four models to push F1 and ROC-AUC further.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43525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43525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Class-Imbalance Handling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03720" y="471830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Address the skew toward approvals (e.g. SMOTE, class weights) given the ROC-AUC gaps seen.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5385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5385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Deployment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03720" y="575157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BE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Package the strongest model behind an API for real-time approval scoring.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1702</Words>
  <Application>Microsoft Office PowerPoint</Application>
  <PresentationFormat>Widescreen</PresentationFormat>
  <Paragraphs>305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Liberation Mono</vt:lpstr>
      <vt:lpstr>Lora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HARIHARAN M S</cp:lastModifiedBy>
  <cp:revision>2</cp:revision>
  <dcterms:created xsi:type="dcterms:W3CDTF">2026-07-12T17:51:57Z</dcterms:created>
  <dcterms:modified xsi:type="dcterms:W3CDTF">2026-07-12T18:14:31Z</dcterms:modified>
</cp:coreProperties>
</file>